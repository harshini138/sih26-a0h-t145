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4" r:id="rId6"/>
    <p:sldId id="260" r:id="rId7"/>
    <p:sldId id="262" r:id="rId8"/>
    <p:sldId id="258" r:id="rId9"/>
    <p:sldId id="259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57" dt="2026-08-30T11:23:03.586"/>
    <p1510:client id="{05DC6B9D-A6C5-E8A5-4A37-7D996037E537}" v="10" dt="2026-08-30T05:27:18.584"/>
    <p1510:client id="{21FECEA7-FB0C-7F4E-8707-F60C01892BB8}" v="20" dt="2026-08-30T03:09:39.676"/>
    <p1510:client id="{4800C01E-3470-5B13-598E-A4766A61228F}" v="1" dt="2026-08-30T08:30:38.381"/>
    <p1510:client id="{6871EAEC-67D6-9D2C-ED16-FA0E9D1182E8}" v="1032" dt="2026-08-30T10:40:28.711"/>
    <p1510:client id="{804E7A53-8AF8-86EB-CE74-9B54F0605F5D}" v="51" dt="2026-08-30T03:21:39.321"/>
    <p1510:client id="{87F44CA7-35D1-89D8-4B7F-5BAC5A9CC0B6}" v="9" dt="2026-08-30T08:31:40.079"/>
    <p1510:client id="{BE236C77-736D-59CA-1BDD-F6AA4EB218EB}" v="173" dt="2026-08-30T03:10:36.151"/>
    <p1510:client id="{D0046795-18FF-0FDD-0458-7543AA8E05F3}" v="1675" dt="2026-08-30T03:49:18.160"/>
    <p1510:client id="{D4574CA1-B551-989C-62F4-1778AE9427B0}" v="22" dt="2026-08-30T06:05:34.670"/>
    <p1510:client id="{DC664AC4-2DBB-C82D-A2DD-07CBF2D15A48}" v="524" dt="2026-08-30T09:31:06.714"/>
    <p1510:client id="{EDFF5920-CDB6-CBBA-D6DC-E70ADACACD6E}" v="263" dt="2026-08-30T03:23:38.1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/>
            <a:ahLst/>
            <a:cxnLst/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t>8/30/2026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6A364-A39C-470E-B89A-9BD899585684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3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8/30/2026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42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FigureOut">
              <a:rPr lang="en-US" dirty="0"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8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112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/>
            <a:ahLst/>
            <a:cxnLst/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/>
            <a:ahLst/>
            <a:cxnLst/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E16723-2C2F-40DB-89B2-A94AAE77E75C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63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8B73AF-3955-4569-8B4F-B329360A9CBD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0ADC593-EA98-4C39-A75F-3F3A9C691019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8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32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13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7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42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06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C8C146-0A20-4029-98D5-9A42EEDF8B24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789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/>
            <a:ahLst/>
            <a:cxnLst/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3859A7-84EB-4384-87AF-59CC16704CF8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6638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endParaRPr/>
          </a:p>
        </p:txBody>
      </p:sp>
    </p:spTree>
    <p:extLst>
      <p:ext uri="{BB962C8B-B14F-4D97-AF65-F5344CB8AC3E}">
        <p14:creationId xmlns:p14="http://schemas.microsoft.com/office/powerpoint/2010/main" val="4262945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331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40A1F3-DA5D-4F2E-B759-748FF8D0ACA9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7639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/>
            <a:ahLst/>
            <a:cxnLst/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48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765B10-D26A-480A-9509-A9831C5E60D8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789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CB42A-67CE-499B-A4FA-7D4E4469B142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018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9E5040-F7E0-40EC-B8E9-CED28200FAA3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9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CFF128-BAC7-4E0D-8F77-28A571D93B6F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84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1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43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69B1-FEB4-34FC-D3DF-0BB736486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89C79-1337-F1D1-3CB1-B481213A7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F886B-A4DA-086F-AB60-B83F71BE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9933-F5C5-4D8C-A631-3B1C65260D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B8BF5-7CB9-2EFE-1C91-07438771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2936A-2D83-6D4C-0C17-915B8824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082FF-EDC9-41B1-B79E-216E10FD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378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81EB-EDA5-01F1-A579-6EE0C8B9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C4602-A03D-EDDB-4CBD-C8666004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89EDD-3E75-4E93-00D7-4BC5D597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9933-F5C5-4D8C-A631-3B1C65260D28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9B0ED-ECEC-C257-63FA-FE1F8A9B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5C810-4CDE-B128-7F71-E6EC738B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082FF-EDC9-41B1-B79E-216E10FD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498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FigureOut">
              <a:rPr lang="en-US" dirty="0"/>
              <a:pPr/>
              <a:t>8/30/2026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2DE90F28-AFBB-4AB2-AA79-6D3F72ED131B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41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 userDrawn="1">
          <p15:clr>
            <a:srgbClr val="F26B43"/>
          </p15:clr>
        </p15:guide>
        <p15:guide id="2" pos="528" userDrawn="1">
          <p15:clr>
            <a:srgbClr val="F26B43"/>
          </p15:clr>
        </p15:guide>
        <p15:guide id="3" orient="horz" pos="3792" userDrawn="1">
          <p15:clr>
            <a:srgbClr val="F26B43"/>
          </p15:clr>
        </p15:guide>
        <p15:guide id="4" pos="7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6DEE-DCB9-146F-0A24-5472421BB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943" y="145716"/>
            <a:ext cx="9519633" cy="938728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rgbClr val="002060"/>
                </a:solidFill>
              </a:rPr>
              <a:t>SMART</a:t>
            </a:r>
            <a:r>
              <a:rPr lang="en-IN" sz="4400" b="1">
                <a:solidFill>
                  <a:srgbClr val="002060"/>
                </a:solidFill>
              </a:rPr>
              <a:t> </a:t>
            </a:r>
            <a:r>
              <a:rPr lang="en-IN" sz="3200" b="1">
                <a:solidFill>
                  <a:srgbClr val="002060"/>
                </a:solidFill>
              </a:rPr>
              <a:t>INDIA</a:t>
            </a:r>
            <a:r>
              <a:rPr lang="en-IN" sz="3600" b="1">
                <a:solidFill>
                  <a:srgbClr val="002060"/>
                </a:solidFill>
              </a:rPr>
              <a:t> HACKATHON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9A431-D33D-A4BF-4192-804DE14F6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13644"/>
            <a:ext cx="12052479" cy="48432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3200" b="1">
                <a:latin typeface="Aptos"/>
              </a:rPr>
              <a:t>Weather GPT  </a:t>
            </a:r>
            <a:r>
              <a:rPr lang="en-IN" sz="3600" b="1">
                <a:latin typeface="Aptos"/>
              </a:rPr>
              <a:t>  </a:t>
            </a:r>
            <a:r>
              <a:rPr lang="en-IN" b="1">
                <a:latin typeface="Aptos"/>
              </a:rPr>
              <a:t>  </a:t>
            </a:r>
            <a:r>
              <a:rPr lang="en-IN" b="1">
                <a:latin typeface="Goudy Old Style"/>
              </a:rPr>
              <a:t> </a:t>
            </a:r>
            <a:endParaRPr lang="en-US">
              <a:latin typeface="Goudy Old Style"/>
            </a:endParaRPr>
          </a:p>
          <a:p>
            <a:pPr marL="342900" indent="-342900" algn="l">
              <a:buChar char="•"/>
            </a:pPr>
            <a:r>
              <a:rPr lang="en-IN" b="1">
                <a:latin typeface="Aptos"/>
              </a:rPr>
              <a:t>Problem Statement ID – 26068</a:t>
            </a:r>
            <a:endParaRPr lang="en-US" b="1">
              <a:latin typeface="Aptos"/>
            </a:endParaRPr>
          </a:p>
          <a:p>
            <a:pPr marL="342900" indent="-342900" algn="l">
              <a:buChar char="•"/>
            </a:pPr>
            <a:r>
              <a:rPr lang="en-IN" b="1">
                <a:latin typeface="Aptos"/>
              </a:rPr>
              <a:t>Problem Statement Title –Weather GPT: Conversational AI for </a:t>
            </a:r>
          </a:p>
          <a:p>
            <a:pPr marL="342900" indent="-342900" algn="l"/>
            <a:r>
              <a:rPr lang="en-IN" b="1">
                <a:latin typeface="Aptos"/>
              </a:rPr>
              <a:t>      Weather Forecasting, Alerts,  Climate Information</a:t>
            </a:r>
            <a:endParaRPr lang="en-IN">
              <a:latin typeface="Goudy Old Style"/>
            </a:endParaRPr>
          </a:p>
          <a:p>
            <a:pPr marL="342900" indent="-342900" algn="l">
              <a:buChar char="•"/>
            </a:pPr>
            <a:r>
              <a:rPr lang="en-IN" b="1">
                <a:latin typeface="Aptos"/>
              </a:rPr>
              <a:t>Theme – Agriculture, Food Tech &amp; Rural Development</a:t>
            </a:r>
          </a:p>
          <a:p>
            <a:pPr marL="342900" indent="-342900" algn="l">
              <a:buChar char="•"/>
            </a:pPr>
            <a:r>
              <a:rPr lang="en-IN" b="1">
                <a:latin typeface="Aptos"/>
              </a:rPr>
              <a:t>PS Category – Hardware</a:t>
            </a:r>
          </a:p>
          <a:p>
            <a:pPr marL="342900" indent="-342900" algn="l">
              <a:buChar char="•"/>
            </a:pPr>
            <a:r>
              <a:rPr lang="en-IN" b="1">
                <a:latin typeface="Aptos"/>
              </a:rPr>
              <a:t>Team Name (Registered on portal) – </a:t>
            </a:r>
            <a:r>
              <a:rPr lang="en-IN" b="1" err="1">
                <a:latin typeface="Aptos"/>
              </a:rPr>
              <a:t>CodeXcape</a:t>
            </a:r>
          </a:p>
          <a:p>
            <a:pPr algn="l"/>
            <a:r>
              <a:rPr lang="en-IN"/>
              <a:t>                                                                                           </a:t>
            </a:r>
            <a:endParaRPr lang="en-US"/>
          </a:p>
        </p:txBody>
      </p:sp>
      <p:pic>
        <p:nvPicPr>
          <p:cNvPr id="5" name="Picture 4" descr="A logo for weather gpt&#10;&#10;AI-generated content may be incorrect.">
            <a:extLst>
              <a:ext uri="{FF2B5EF4-FFF2-40B4-BE49-F238E27FC236}">
                <a16:creationId xmlns:a16="http://schemas.microsoft.com/office/drawing/2014/main" id="{3BCA6C64-3592-97AF-F876-CA38D5CD7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7" y="150254"/>
            <a:ext cx="1582957" cy="1365733"/>
          </a:xfrm>
          <a:prstGeom prst="rect">
            <a:avLst/>
          </a:prstGeom>
        </p:spPr>
      </p:pic>
      <p:pic>
        <p:nvPicPr>
          <p:cNvPr id="7" name="Content Placeholder 3" descr="A green light bulb with binary code&#10;&#10;AI-generated content may be incorrect.">
            <a:extLst>
              <a:ext uri="{FF2B5EF4-FFF2-40B4-BE49-F238E27FC236}">
                <a16:creationId xmlns:a16="http://schemas.microsoft.com/office/drawing/2014/main" id="{A947B184-7491-0D72-99C2-686266134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607" y="150367"/>
            <a:ext cx="2956641" cy="147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93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46F9B-B684-CE76-FFF9-A837D527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3DF6-A1E8-4920-A6EC-E17A16EBE129}" type="datetime1">
              <a:t>8/30/2026</a:t>
            </a:fld>
            <a:endParaRPr lang="en-US"/>
          </a:p>
        </p:txBody>
      </p:sp>
      <p:pic>
        <p:nvPicPr>
          <p:cNvPr id="9" name="Content Placeholder 3" descr="A green light bulb with binary code&#10;&#10;AI-generated content may be incorrect.">
            <a:extLst>
              <a:ext uri="{FF2B5EF4-FFF2-40B4-BE49-F238E27FC236}">
                <a16:creationId xmlns:a16="http://schemas.microsoft.com/office/drawing/2014/main" id="{52ADA81A-2E5A-D529-A7AD-A81E0C3F6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638" y="-7993"/>
            <a:ext cx="3768725" cy="1717675"/>
          </a:xfrm>
          <a:prstGeom prst="rect">
            <a:avLst/>
          </a:prstGeom>
        </p:spPr>
      </p:pic>
      <p:pic>
        <p:nvPicPr>
          <p:cNvPr id="11" name="Picture 10" descr="A logo for weather gpt&#10;&#10;AI-generated content may be incorrect.">
            <a:extLst>
              <a:ext uri="{FF2B5EF4-FFF2-40B4-BE49-F238E27FC236}">
                <a16:creationId xmlns:a16="http://schemas.microsoft.com/office/drawing/2014/main" id="{2E30EEB5-CDC3-14B1-1094-DAE33925E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2" y="85060"/>
            <a:ext cx="1951506" cy="16936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9ACD7D-BF14-4C9F-1F73-E92BF2E63C16}"/>
              </a:ext>
            </a:extLst>
          </p:cNvPr>
          <p:cNvSpPr txBox="1"/>
          <p:nvPr/>
        </p:nvSpPr>
        <p:spPr>
          <a:xfrm>
            <a:off x="168151" y="2791103"/>
            <a:ext cx="282696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25313B"/>
                </a:solidFill>
                <a:latin typeface="Aptos"/>
              </a:rPr>
              <a:t>• </a:t>
            </a:r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Weather data is fragmented across portals, bulletins, satellite products and forecast systems.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• Users struggle to convert technical forecasts into simple, actionable decisions.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• During cyclones, floods and other extremes, delayed understanding can increase risk.</a:t>
            </a:r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en-US">
              <a:latin typeface="Calibri"/>
              <a:ea typeface="Calibri"/>
              <a:cs typeface="Calibri"/>
            </a:endParaRPr>
          </a:p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BDC8F4-A8C1-D151-27E0-6CB55A840AE2}"/>
              </a:ext>
            </a:extLst>
          </p:cNvPr>
          <p:cNvSpPr txBox="1"/>
          <p:nvPr/>
        </p:nvSpPr>
        <p:spPr>
          <a:xfrm>
            <a:off x="6114927" y="2523221"/>
            <a:ext cx="2722955" cy="43507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25313B"/>
                </a:solidFill>
                <a:latin typeface="Aptos"/>
              </a:rPr>
              <a:t>•</a:t>
            </a:r>
            <a:r>
              <a:rPr lang="en-US" sz="1600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Conversational access instead of dashboard-heavy interfaces.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• Location + context aware responses for agriculture, disaster management, aviation and cities.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• Multilingual + voice interaction for wider accessibility.</a:t>
            </a:r>
          </a:p>
          <a:p>
            <a:r>
              <a:rPr lang="en-US">
                <a:latin typeface="Calibri"/>
                <a:ea typeface="Calibri"/>
                <a:cs typeface="Calibri"/>
              </a:rPr>
              <a:t>• Live weather + NWP + warnings + hi</a:t>
            </a:r>
            <a:r>
              <a:rPr lang="en-US">
                <a:solidFill>
                  <a:srgbClr val="25313B"/>
                </a:solidFill>
                <a:latin typeface="Calibri"/>
                <a:ea typeface="Calibri"/>
                <a:cs typeface="Calibri"/>
              </a:rPr>
              <a:t>storical climate analysis in one flow.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48B076-9C4D-C604-9141-469B45145956}"/>
              </a:ext>
            </a:extLst>
          </p:cNvPr>
          <p:cNvSpPr txBox="1"/>
          <p:nvPr/>
        </p:nvSpPr>
        <p:spPr>
          <a:xfrm>
            <a:off x="1693821" y="83121"/>
            <a:ext cx="6908588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Felix Titling"/>
              </a:rPr>
              <a:t>PROPOSED SOLUTION</a:t>
            </a:r>
            <a:endParaRPr lang="en-US" sz="3200">
              <a:latin typeface="Felix Titling"/>
            </a:endParaRPr>
          </a:p>
          <a:p>
            <a:pPr algn="ctr"/>
            <a:endParaRPr lang="en-US">
              <a:latin typeface="Felix Titling"/>
            </a:endParaRPr>
          </a:p>
          <a:p>
            <a:pPr algn="l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65C31E8-AA1B-ED2A-5C37-1F3BB7126921}"/>
              </a:ext>
            </a:extLst>
          </p:cNvPr>
          <p:cNvSpPr/>
          <p:nvPr/>
        </p:nvSpPr>
        <p:spPr>
          <a:xfrm>
            <a:off x="164958" y="2034627"/>
            <a:ext cx="2598123" cy="51051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FCABEC-B854-F9DD-0669-C6ECC38E2605}"/>
              </a:ext>
            </a:extLst>
          </p:cNvPr>
          <p:cNvSpPr txBox="1"/>
          <p:nvPr/>
        </p:nvSpPr>
        <p:spPr>
          <a:xfrm>
            <a:off x="457460" y="2105022"/>
            <a:ext cx="19769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   PROBLEM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0A63F69-1117-1BD5-01CA-8816E3E8EAA8}"/>
              </a:ext>
            </a:extLst>
          </p:cNvPr>
          <p:cNvSpPr/>
          <p:nvPr/>
        </p:nvSpPr>
        <p:spPr>
          <a:xfrm>
            <a:off x="6056375" y="1989456"/>
            <a:ext cx="2812414" cy="481461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7247D5-E8A7-3C0C-5F5C-AFF7209DA1C1}"/>
              </a:ext>
            </a:extLst>
          </p:cNvPr>
          <p:cNvSpPr txBox="1"/>
          <p:nvPr/>
        </p:nvSpPr>
        <p:spPr>
          <a:xfrm>
            <a:off x="6208523" y="2074887"/>
            <a:ext cx="32479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WE STAND OUT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B2F3136-0A9F-D45C-69A1-40C20F520F9B}"/>
              </a:ext>
            </a:extLst>
          </p:cNvPr>
          <p:cNvCxnSpPr/>
          <p:nvPr/>
        </p:nvCxnSpPr>
        <p:spPr>
          <a:xfrm>
            <a:off x="5633746" y="1156988"/>
            <a:ext cx="36163" cy="525579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AB3239-2DB3-3CF2-4384-4221A848096F}"/>
              </a:ext>
            </a:extLst>
          </p:cNvPr>
          <p:cNvCxnSpPr/>
          <p:nvPr/>
        </p:nvCxnSpPr>
        <p:spPr>
          <a:xfrm>
            <a:off x="2862618" y="6694246"/>
            <a:ext cx="2953371" cy="1205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E6911B-C721-BFEF-B046-A1B13E3E2411}"/>
              </a:ext>
            </a:extLst>
          </p:cNvPr>
          <p:cNvSpPr txBox="1"/>
          <p:nvPr/>
        </p:nvSpPr>
        <p:spPr>
          <a:xfrm>
            <a:off x="9015743" y="2436892"/>
            <a:ext cx="2987643" cy="43303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Conversational AI querying</a:t>
            </a:r>
            <a:r>
              <a:rPr lang="en-US">
                <a:latin typeface="Calibri"/>
                <a:ea typeface="Calibri"/>
                <a:cs typeface="Calibri"/>
              </a:rPr>
              <a:t>- asking complex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       queries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Automated bulletin parsing</a:t>
            </a:r>
            <a:r>
              <a:rPr lang="en-US">
                <a:latin typeface="Calibri"/>
                <a:ea typeface="Calibri"/>
                <a:cs typeface="Calibri"/>
              </a:rPr>
              <a:t>- AI ingests daily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</a:rPr>
              <a:t>       IMD bulletins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Real-time alerting system-</a:t>
            </a:r>
            <a:r>
              <a:rPr lang="en-US">
                <a:latin typeface="Calibri"/>
                <a:ea typeface="Calibri"/>
                <a:cs typeface="Calibri"/>
              </a:rPr>
              <a:t> push emergency warnings via </a:t>
            </a:r>
            <a:r>
              <a:rPr lang="en-US" err="1">
                <a:latin typeface="Calibri"/>
                <a:ea typeface="Calibri"/>
                <a:cs typeface="Calibri"/>
              </a:rPr>
              <a:t>sms</a:t>
            </a:r>
            <a:r>
              <a:rPr lang="en-US">
                <a:latin typeface="Calibri"/>
                <a:ea typeface="Calibri"/>
                <a:cs typeface="Calibri"/>
              </a:rPr>
              <a:t> and </a:t>
            </a:r>
            <a:r>
              <a:rPr lang="en-US" err="1">
                <a:latin typeface="Calibri"/>
                <a:ea typeface="Calibri"/>
                <a:cs typeface="Calibri"/>
              </a:rPr>
              <a:t>whatsapp</a:t>
            </a:r>
            <a:r>
              <a:rPr lang="en-US">
                <a:latin typeface="Calibri"/>
                <a:ea typeface="Calibri"/>
                <a:cs typeface="Calibri"/>
              </a:rPr>
              <a:t> for sudden floods</a:t>
            </a: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Multi-Modal Analytics- 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   </a:t>
            </a:r>
            <a:r>
              <a:rPr lang="en-US">
                <a:latin typeface="Calibri"/>
                <a:ea typeface="Calibri"/>
                <a:cs typeface="Calibri"/>
              </a:rPr>
              <a:t>Supports spatial      graph  displays</a:t>
            </a:r>
            <a:endParaRPr lang="en-US">
              <a:latin typeface="Goudy Old Style" panose="02020502050305020303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Calibri"/>
                <a:ea typeface="Calibri"/>
                <a:cs typeface="Calibri"/>
              </a:rPr>
              <a:t>Low-latency Edge Access-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    Optimized micro-LLM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7AF7220-6215-97A7-D175-2ADA2A9E9926}"/>
              </a:ext>
            </a:extLst>
          </p:cNvPr>
          <p:cNvSpPr/>
          <p:nvPr/>
        </p:nvSpPr>
        <p:spPr>
          <a:xfrm>
            <a:off x="9348656" y="1781595"/>
            <a:ext cx="2397212" cy="5060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E91262-3C51-79FF-FA0C-EB60B32AB12C}"/>
              </a:ext>
            </a:extLst>
          </p:cNvPr>
          <p:cNvSpPr txBox="1"/>
          <p:nvPr/>
        </p:nvSpPr>
        <p:spPr>
          <a:xfrm>
            <a:off x="9586133" y="1852015"/>
            <a:ext cx="19302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KEY FEATURES</a:t>
            </a:r>
            <a:endParaRPr lang="en-US">
              <a:solidFill>
                <a:srgbClr val="FFFFFF"/>
              </a:solidFill>
            </a:endParaRPr>
          </a:p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08176-6B05-A07F-8B35-CE1025748A46}"/>
              </a:ext>
            </a:extLst>
          </p:cNvPr>
          <p:cNvSpPr/>
          <p:nvPr/>
        </p:nvSpPr>
        <p:spPr>
          <a:xfrm>
            <a:off x="3043189" y="936546"/>
            <a:ext cx="2835056" cy="54864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B5E55-9D4B-FA59-F944-EC6D6156F853}"/>
              </a:ext>
            </a:extLst>
          </p:cNvPr>
          <p:cNvSpPr txBox="1"/>
          <p:nvPr/>
        </p:nvSpPr>
        <p:spPr>
          <a:xfrm>
            <a:off x="3140896" y="1411577"/>
            <a:ext cx="2504200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"/>
              </a:rPr>
              <a:t>ASK</a:t>
            </a:r>
            <a:r>
              <a:rPr lang="en-US" sz="1400">
                <a:latin typeface="Aptos"/>
              </a:rPr>
              <a:t> </a:t>
            </a:r>
          </a:p>
          <a:p>
            <a:pPr algn="ctr"/>
            <a:r>
              <a:rPr lang="en-US" sz="1600">
                <a:latin typeface="Aptos"/>
              </a:rPr>
              <a:t>( voice/text in 10+ regional language)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 ↓</a:t>
            </a:r>
            <a:br>
              <a:rPr lang="en-US" sz="1600" b="1">
                <a:latin typeface="Aptos"/>
              </a:rPr>
            </a:br>
            <a:r>
              <a:rPr lang="en-US" sz="1600" b="1">
                <a:latin typeface="Aptos"/>
              </a:rPr>
              <a:t> UNDERSTAND</a:t>
            </a:r>
          </a:p>
          <a:p>
            <a:pPr algn="ctr"/>
            <a:r>
              <a:rPr lang="en-US" sz="1600">
                <a:latin typeface="Aptos"/>
              </a:rPr>
              <a:t>(LLM intent and Geo-Location Parsing)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↓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 </a:t>
            </a:r>
            <a:r>
              <a:rPr lang="en-US" sz="1600" b="1">
                <a:latin typeface="Aptos"/>
              </a:rPr>
              <a:t>RETRIEVE</a:t>
            </a:r>
            <a:endParaRPr lang="en-US" sz="1600">
              <a:latin typeface="Aptos"/>
            </a:endParaRPr>
          </a:p>
          <a:p>
            <a:pPr algn="ctr"/>
            <a:r>
              <a:rPr lang="en-US" sz="1600">
                <a:latin typeface="Aptos"/>
              </a:rPr>
              <a:t>(Real –Time IMD, Satellite and NWP Feeds)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 ↓</a:t>
            </a:r>
            <a:br>
              <a:rPr lang="en-US" sz="1600">
                <a:latin typeface="Aptos"/>
              </a:rPr>
            </a:br>
            <a:r>
              <a:rPr lang="en-US" sz="1600" b="1">
                <a:latin typeface="Aptos"/>
              </a:rPr>
              <a:t> EXPLAIN</a:t>
            </a:r>
          </a:p>
          <a:p>
            <a:pPr algn="ctr"/>
            <a:r>
              <a:rPr lang="en-US" sz="1600">
                <a:latin typeface="Aptos"/>
              </a:rPr>
              <a:t>(Generative Advisory in plain language)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 ↓</a:t>
            </a:r>
            <a:br>
              <a:rPr lang="en-US" sz="1600">
                <a:latin typeface="Aptos"/>
              </a:rPr>
            </a:br>
            <a:r>
              <a:rPr lang="en-US" sz="1600">
                <a:latin typeface="Aptos"/>
              </a:rPr>
              <a:t> </a:t>
            </a:r>
            <a:r>
              <a:rPr lang="en-US" b="1">
                <a:latin typeface="Aptos"/>
              </a:rPr>
              <a:t>ACT</a:t>
            </a:r>
            <a:endParaRPr lang="en-US">
              <a:latin typeface="Aptos"/>
            </a:endParaRPr>
          </a:p>
          <a:p>
            <a:pPr algn="ctr"/>
            <a:r>
              <a:rPr lang="en-US" sz="1600">
                <a:latin typeface="Aptos"/>
              </a:rPr>
              <a:t>(instant early warnings and actionable alerts)</a:t>
            </a:r>
          </a:p>
          <a:p>
            <a:endParaRPr lang="en-US" sz="1600">
              <a:latin typeface="Aptos"/>
            </a:endParaRPr>
          </a:p>
          <a:p>
            <a:endParaRPr lang="en-US"/>
          </a:p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A091F9-BA96-5BAC-9E77-C6B82ACAD03F}"/>
              </a:ext>
            </a:extLst>
          </p:cNvPr>
          <p:cNvSpPr txBox="1"/>
          <p:nvPr/>
        </p:nvSpPr>
        <p:spPr>
          <a:xfrm>
            <a:off x="3417097" y="1043388"/>
            <a:ext cx="24519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 </a:t>
            </a:r>
            <a:r>
              <a:rPr lang="en-US" b="1"/>
              <a:t>WEATHERGPT</a:t>
            </a:r>
          </a:p>
        </p:txBody>
      </p:sp>
    </p:spTree>
    <p:extLst>
      <p:ext uri="{BB962C8B-B14F-4D97-AF65-F5344CB8AC3E}">
        <p14:creationId xmlns:p14="http://schemas.microsoft.com/office/powerpoint/2010/main" val="390817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F98B-C9D6-357C-B658-8929D9CD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646"/>
            <a:ext cx="10515600" cy="985843"/>
          </a:xfrm>
        </p:spPr>
        <p:txBody>
          <a:bodyPr/>
          <a:lstStyle/>
          <a:p>
            <a:r>
              <a:rPr lang="en-US"/>
              <a:t>           </a:t>
            </a:r>
            <a:r>
              <a:rPr lang="en-US">
                <a:latin typeface="Felix Titling"/>
              </a:rPr>
              <a:t>     </a:t>
            </a:r>
            <a:r>
              <a:rPr lang="en-US" sz="3200" b="1">
                <a:latin typeface="Aptos"/>
              </a:rPr>
              <a:t>TECHNICAL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EA576-9A68-894B-3436-2A7E005D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5A0A-D3FC-47CB-B6DB-376A23B4865C}" type="datetime1">
              <a:t>8/30/2026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802BE-C819-D3B4-69C5-2BB6FD21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963FA-1BA2-A015-31FD-E9B186DF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082FF-EDC9-41B1-B79E-216E10FDAA58}" type="slidenum">
              <a:rPr lang="en-IN" smtClean="0"/>
              <a:t>3</a:t>
            </a:fld>
            <a:endParaRPr lang="en-IN"/>
          </a:p>
        </p:txBody>
      </p:sp>
      <p:pic>
        <p:nvPicPr>
          <p:cNvPr id="12" name="Content Placeholder 3" descr="A green light bulb with binary code&#10;&#10;AI-generated content may be incorrect.">
            <a:extLst>
              <a:ext uri="{FF2B5EF4-FFF2-40B4-BE49-F238E27FC236}">
                <a16:creationId xmlns:a16="http://schemas.microsoft.com/office/drawing/2014/main" id="{057EF4B4-0919-868D-0BE5-CF1CE6501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23" y="113"/>
            <a:ext cx="3514725" cy="1666875"/>
          </a:xfrm>
          <a:prstGeom prst="rect">
            <a:avLst/>
          </a:prstGeom>
        </p:spPr>
      </p:pic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E509307-46C4-8F83-F020-74EB29E30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584899"/>
              </p:ext>
            </p:extLst>
          </p:nvPr>
        </p:nvGraphicFramePr>
        <p:xfrm>
          <a:off x="141111" y="1862666"/>
          <a:ext cx="4148696" cy="4998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8696">
                  <a:extLst>
                    <a:ext uri="{9D8B030D-6E8A-4147-A177-3AD203B41FA5}">
                      <a16:colId xmlns:a16="http://schemas.microsoft.com/office/drawing/2014/main" val="2249630915"/>
                    </a:ext>
                  </a:extLst>
                </a:gridCol>
              </a:tblGrid>
              <a:tr h="362105">
                <a:tc>
                  <a:txBody>
                    <a:bodyPr/>
                    <a:lstStyle/>
                    <a:p>
                      <a:pPr marL="285750" lvl="0" indent="-285750">
                        <a:buFont typeface="Wingdings"/>
                        <a:buChar char="§"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TECHNOLOGIES TO BE USED :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955212"/>
                  </a:ext>
                </a:extLst>
              </a:tr>
              <a:tr h="3456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Frontend</a:t>
                      </a:r>
                      <a:r>
                        <a:rPr lang="en-US"/>
                        <a:t> :  React.js/Flutter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590208"/>
                  </a:ext>
                </a:extLst>
              </a:tr>
              <a:tr h="3456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Backend </a:t>
                      </a:r>
                      <a:r>
                        <a:rPr lang="en-US"/>
                        <a:t> : Python, </a:t>
                      </a:r>
                      <a:r>
                        <a:rPr lang="en-US" err="1"/>
                        <a:t>FastAPI</a:t>
                      </a:r>
                      <a:r>
                        <a:rPr lang="en-US"/>
                        <a:t> 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79184"/>
                  </a:ext>
                </a:extLst>
              </a:tr>
              <a:tr h="608997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AI/ML</a:t>
                      </a:r>
                      <a:r>
                        <a:rPr lang="en-US"/>
                        <a:t>  :  Python, NLP, Machine           Learning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013110"/>
                  </a:ext>
                </a:extLst>
              </a:tr>
              <a:tr h="757131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Weather Data</a:t>
                      </a:r>
                      <a:r>
                        <a:rPr lang="en-US"/>
                        <a:t> : IMD APIs, GFS/WRF model data, Satellite &amp; Radar data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31043"/>
                  </a:ext>
                </a:extLst>
              </a:tr>
              <a:tr h="34564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Database </a:t>
                      </a:r>
                      <a:r>
                        <a:rPr lang="en-US"/>
                        <a:t> : PostgreSQL/MongoDB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754198"/>
                  </a:ext>
                </a:extLst>
              </a:tr>
              <a:tr h="444403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Maps </a:t>
                      </a:r>
                      <a:r>
                        <a:rPr lang="en-US"/>
                        <a:t> : GIS,  </a:t>
                      </a:r>
                      <a:r>
                        <a:rPr lang="en-US" err="1"/>
                        <a:t>Mapbox</a:t>
                      </a:r>
                      <a:r>
                        <a:rPr lang="en-US"/>
                        <a:t> API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835302"/>
                  </a:ext>
                </a:extLst>
              </a:tr>
              <a:tr h="526699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1"/>
                        <a:t>Voice </a:t>
                      </a:r>
                      <a:r>
                        <a:rPr lang="en-US"/>
                        <a:t> : Speech-to-Text, Text-to-Speech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923109"/>
                  </a:ext>
                </a:extLst>
              </a:tr>
              <a:tr h="608997"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1"/>
                        <a:t>Languages</a:t>
                      </a:r>
                      <a:r>
                        <a:rPr lang="en-US"/>
                        <a:t> : English + Indian Regional Languages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858520"/>
                  </a:ext>
                </a:extLst>
              </a:tr>
              <a:tr h="526699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/>
                        <a:t>Cloud</a:t>
                      </a:r>
                      <a:r>
                        <a:rPr lang="en-US"/>
                        <a:t>  : AWS/Google Cloud Platform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08033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370AFFA4-1C02-ABCB-8176-0515726B4948}"/>
              </a:ext>
            </a:extLst>
          </p:cNvPr>
          <p:cNvSpPr txBox="1"/>
          <p:nvPr/>
        </p:nvSpPr>
        <p:spPr>
          <a:xfrm>
            <a:off x="4510996" y="1862325"/>
            <a:ext cx="74789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US"/>
              <a:t>     </a:t>
            </a:r>
            <a:r>
              <a:rPr lang="en-US" sz="2000" b="1"/>
              <a:t>METHODLOGY AND PROCESS FOR IMPLEMENTATION</a:t>
            </a:r>
            <a:endParaRPr lang="en-US" b="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64D6C65-0F7E-6630-1455-A0B331F63DCC}"/>
              </a:ext>
            </a:extLst>
          </p:cNvPr>
          <p:cNvSpPr/>
          <p:nvPr/>
        </p:nvSpPr>
        <p:spPr>
          <a:xfrm>
            <a:off x="4326446" y="2343131"/>
            <a:ext cx="1444503" cy="1822177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 algn="ctr">
              <a:buAutoNum type="arabicPeriod"/>
            </a:pPr>
            <a:r>
              <a:rPr lang="en-US">
                <a:solidFill>
                  <a:schemeClr val="tx1"/>
                </a:solidFill>
              </a:rPr>
              <a:t>User Query/Voice Input: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User asks a question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FFDD38-1A62-5DD0-3585-8D4E3815FB46}"/>
              </a:ext>
            </a:extLst>
          </p:cNvPr>
          <p:cNvSpPr/>
          <p:nvPr/>
        </p:nvSpPr>
        <p:spPr>
          <a:xfrm>
            <a:off x="4326446" y="4590322"/>
            <a:ext cx="1813595" cy="22666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8.Text/ Voice+ Weather Map: Provide </a:t>
            </a:r>
            <a:r>
              <a:rPr lang="en-US" err="1">
                <a:solidFill>
                  <a:schemeClr val="tx1"/>
                </a:solidFill>
              </a:rPr>
              <a:t>respo</a:t>
            </a:r>
            <a:r>
              <a:rPr lang="en-US">
                <a:solidFill>
                  <a:schemeClr val="tx1"/>
                </a:solidFill>
              </a:rPr>
              <a:t>nse in text/voice with interactive map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330591-DC16-79B8-4393-B073A4F7C2D7}"/>
              </a:ext>
            </a:extLst>
          </p:cNvPr>
          <p:cNvSpPr/>
          <p:nvPr/>
        </p:nvSpPr>
        <p:spPr>
          <a:xfrm>
            <a:off x="10336459" y="2260667"/>
            <a:ext cx="1763766" cy="20880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4. Retrieve Real-Time Weather + Forecast Data: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Fetch data from IMD, APIs, Radar etc</a:t>
            </a:r>
            <a:r>
              <a:rPr lang="en-US"/>
              <a:t>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1CD47D3-3202-CB5B-BE39-1B56652606A1}"/>
              </a:ext>
            </a:extLst>
          </p:cNvPr>
          <p:cNvSpPr/>
          <p:nvPr/>
        </p:nvSpPr>
        <p:spPr>
          <a:xfrm>
            <a:off x="6506613" y="4590324"/>
            <a:ext cx="1563565" cy="22525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7. Personalized Advisory/ Alert: </a:t>
            </a:r>
            <a:r>
              <a:rPr lang="en-US" err="1">
                <a:solidFill>
                  <a:schemeClr val="tx1"/>
                </a:solidFill>
              </a:rPr>
              <a:t>Generat</a:t>
            </a:r>
            <a:r>
              <a:rPr lang="en-US">
                <a:solidFill>
                  <a:schemeClr val="tx1"/>
                </a:solidFill>
              </a:rPr>
              <a:t>e location based advisory/ale</a:t>
            </a:r>
            <a:r>
              <a:rPr lang="en-US"/>
              <a:t>rt.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4E3EA63-F330-31B5-44C9-D968FFF37FB4}"/>
              </a:ext>
            </a:extLst>
          </p:cNvPr>
          <p:cNvSpPr/>
          <p:nvPr/>
        </p:nvSpPr>
        <p:spPr>
          <a:xfrm>
            <a:off x="6287009" y="2343129"/>
            <a:ext cx="1456409" cy="18221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2. Language &amp; Intent :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NLP model and under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91177E2-A4D5-3495-C33E-5C2044D0C80F}"/>
              </a:ext>
            </a:extLst>
          </p:cNvPr>
          <p:cNvSpPr/>
          <p:nvPr/>
        </p:nvSpPr>
        <p:spPr>
          <a:xfrm>
            <a:off x="8237430" y="2284481"/>
            <a:ext cx="1790668" cy="2092491"/>
          </a:xfrm>
          <a:prstGeom prst="round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3. Location          Identification: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Detects user location(GPS/IP/manual</a:t>
            </a: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input</a:t>
            </a:r>
          </a:p>
        </p:txBody>
      </p:sp>
      <p:pic>
        <p:nvPicPr>
          <p:cNvPr id="37" name="Picture 36" descr="A logo for weather gpt&#10;&#10;AI-generated content may be incorrect.">
            <a:extLst>
              <a:ext uri="{FF2B5EF4-FFF2-40B4-BE49-F238E27FC236}">
                <a16:creationId xmlns:a16="http://schemas.microsoft.com/office/drawing/2014/main" id="{3F7121A6-F8C1-4734-ABD5-C9815CCD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1" y="0"/>
            <a:ext cx="2001520" cy="166624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2CB5B8F-4E36-566D-324D-F212A8485517}"/>
              </a:ext>
            </a:extLst>
          </p:cNvPr>
          <p:cNvSpPr/>
          <p:nvPr/>
        </p:nvSpPr>
        <p:spPr>
          <a:xfrm>
            <a:off x="8406762" y="4844322"/>
            <a:ext cx="1771261" cy="18715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6. Risk &amp; Extreme   Weather Detection: Detect heavy rain, cyclone, heatwave, </a:t>
            </a:r>
            <a:r>
              <a:rPr lang="en-US" err="1">
                <a:solidFill>
                  <a:schemeClr val="tx1"/>
                </a:solidFill>
              </a:rPr>
              <a:t>etc</a:t>
            </a:r>
            <a:r>
              <a:rPr lang="en-US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1252B19-014A-7529-FF54-9B29674D2520}"/>
              </a:ext>
            </a:extLst>
          </p:cNvPr>
          <p:cNvSpPr/>
          <p:nvPr/>
        </p:nvSpPr>
        <p:spPr>
          <a:xfrm>
            <a:off x="10486390" y="4765831"/>
            <a:ext cx="1559595" cy="21114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5. AI/ML Analysis: Analyze data, predict weather condition &amp; trends.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41E8BB4-A246-4136-ABC8-09F86990C5E3}"/>
              </a:ext>
            </a:extLst>
          </p:cNvPr>
          <p:cNvSpPr/>
          <p:nvPr/>
        </p:nvSpPr>
        <p:spPr>
          <a:xfrm>
            <a:off x="5905499" y="3063875"/>
            <a:ext cx="380999" cy="206374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B13167-3ECD-C79C-5CBC-391B3D200900}"/>
              </a:ext>
            </a:extLst>
          </p:cNvPr>
          <p:cNvSpPr/>
          <p:nvPr/>
        </p:nvSpPr>
        <p:spPr>
          <a:xfrm>
            <a:off x="7838721" y="3120319"/>
            <a:ext cx="395111" cy="135820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B0187BE-5F1E-7329-CA20-E3846D868FBB}"/>
              </a:ext>
            </a:extLst>
          </p:cNvPr>
          <p:cNvSpPr/>
          <p:nvPr/>
        </p:nvSpPr>
        <p:spPr>
          <a:xfrm>
            <a:off x="10040054" y="3176764"/>
            <a:ext cx="310444" cy="135819"/>
          </a:xfrm>
          <a:prstGeom prst="right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7A8073FF-79A6-84A7-2071-42BD0F954A40}"/>
              </a:ext>
            </a:extLst>
          </p:cNvPr>
          <p:cNvSpPr/>
          <p:nvPr/>
        </p:nvSpPr>
        <p:spPr>
          <a:xfrm>
            <a:off x="6163027" y="5623277"/>
            <a:ext cx="338666" cy="190499"/>
          </a:xfrm>
          <a:prstGeom prst="left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E4FBE2ED-BF48-093D-975C-D016548CAF1D}"/>
              </a:ext>
            </a:extLst>
          </p:cNvPr>
          <p:cNvSpPr/>
          <p:nvPr/>
        </p:nvSpPr>
        <p:spPr>
          <a:xfrm>
            <a:off x="10170582" y="5665610"/>
            <a:ext cx="310444" cy="134055"/>
          </a:xfrm>
          <a:prstGeom prst="left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16363327-E180-580D-F266-F3095ACB4B8E}"/>
              </a:ext>
            </a:extLst>
          </p:cNvPr>
          <p:cNvSpPr/>
          <p:nvPr/>
        </p:nvSpPr>
        <p:spPr>
          <a:xfrm>
            <a:off x="8068027" y="5665610"/>
            <a:ext cx="338666" cy="190499"/>
          </a:xfrm>
          <a:prstGeom prst="left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F2B53B7C-13AF-B789-BA42-0B97FD66FD17}"/>
              </a:ext>
            </a:extLst>
          </p:cNvPr>
          <p:cNvSpPr/>
          <p:nvPr/>
        </p:nvSpPr>
        <p:spPr>
          <a:xfrm>
            <a:off x="11197166" y="4439707"/>
            <a:ext cx="158750" cy="317500"/>
          </a:xfrm>
          <a:prstGeom prst="downArrow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45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5977-3C75-8E0A-AAD4-478FA9F8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sz="3200">
                <a:latin typeface="Aptos"/>
              </a:rPr>
            </a:b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D861-113E-92EE-F0F5-CA370FBC2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2061469"/>
            <a:ext cx="11277599" cy="4686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20B0604020202020204" pitchFamily="34" charset="0"/>
              <a:buChar char="§"/>
            </a:pPr>
            <a:r>
              <a:rPr lang="en-US" b="1">
                <a:latin typeface="Goudy Old Style"/>
              </a:rPr>
              <a:t>WORKING PROTOTYPE</a:t>
            </a:r>
            <a:endParaRPr lang="en-US">
              <a:latin typeface="Goudy Old Style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63B44-4BAB-2EC7-9D65-47F535C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B201-79A3-4470-815D-B787006CE7DE}" type="datetime1">
              <a:t>8/30/2026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5AB3E-D819-9D02-B6EE-61D3A5584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422738" y="884535"/>
            <a:ext cx="1473335" cy="281782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3938-2574-7B3D-1F8E-193D2A6A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082FF-EDC9-41B1-B79E-216E10FDAA58}" type="slidenum">
              <a:rPr lang="en-IN" smtClean="0"/>
              <a:t>4</a:t>
            </a:fld>
            <a:endParaRPr lang="en-IN"/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D55CE45-2840-CA63-AB2F-E006344BAF78}"/>
              </a:ext>
            </a:extLst>
          </p:cNvPr>
          <p:cNvSpPr/>
          <p:nvPr/>
        </p:nvSpPr>
        <p:spPr>
          <a:xfrm>
            <a:off x="5907136" y="2748083"/>
            <a:ext cx="2336074" cy="1355903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Detects heavy rainfall risk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36AC0755-E160-B75F-0931-75C7BFE72EF9}"/>
              </a:ext>
            </a:extLst>
          </p:cNvPr>
          <p:cNvSpPr/>
          <p:nvPr/>
        </p:nvSpPr>
        <p:spPr>
          <a:xfrm>
            <a:off x="3049635" y="2748083"/>
            <a:ext cx="2336074" cy="1355903"/>
          </a:xfrm>
          <a:prstGeom prst="flowChartAlternateProcess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WeatherGPT</a:t>
            </a:r>
            <a:r>
              <a:rPr lang="en-US">
                <a:solidFill>
                  <a:schemeClr val="tx1"/>
                </a:solidFill>
              </a:rPr>
              <a:t> identifies location &amp; retreives data</a:t>
            </a:r>
          </a:p>
        </p:txBody>
      </p:sp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E4AF9BA5-17B0-9C8B-F990-121A8C123338}"/>
              </a:ext>
            </a:extLst>
          </p:cNvPr>
          <p:cNvSpPr/>
          <p:nvPr/>
        </p:nvSpPr>
        <p:spPr>
          <a:xfrm>
            <a:off x="9181355" y="2748083"/>
            <a:ext cx="2336074" cy="1355903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AI analyses forecast &amp; rainfall data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BACE0F-69A2-C029-3EC4-7568298ECD7D}"/>
              </a:ext>
            </a:extLst>
          </p:cNvPr>
          <p:cNvSpPr/>
          <p:nvPr/>
        </p:nvSpPr>
        <p:spPr>
          <a:xfrm>
            <a:off x="6433343" y="4798219"/>
            <a:ext cx="5754686" cy="1758155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Response (Text/ Voice):</a:t>
            </a:r>
          </a:p>
          <a:p>
            <a:pPr algn="ctr"/>
            <a:endParaRPr lang="en-GB"/>
          </a:p>
          <a:p>
            <a:pPr algn="ctr"/>
            <a:r>
              <a:rPr lang="en-GB"/>
              <a:t>Heavy rainfall is likely tomorrow between 3PM – 7PM.</a:t>
            </a:r>
          </a:p>
          <a:p>
            <a:pPr algn="ctr"/>
            <a:r>
              <a:rPr lang="en-GB"/>
              <a:t>Avoid unnecessary travel and stay alert for local advisories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81020B-84C7-9DF6-12D9-A4B4EED2DBC4}"/>
              </a:ext>
            </a:extLst>
          </p:cNvPr>
          <p:cNvSpPr/>
          <p:nvPr/>
        </p:nvSpPr>
        <p:spPr>
          <a:xfrm>
            <a:off x="75405" y="2655093"/>
            <a:ext cx="2587625" cy="154384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User Query:</a:t>
            </a:r>
            <a:endParaRPr lang="en-US"/>
          </a:p>
          <a:p>
            <a:pPr algn="ctr"/>
            <a:r>
              <a:rPr lang="en-GB"/>
              <a:t> "Will it rain heavily in my area tomorrow ?"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5807AD0-8B93-FCDD-59B0-FECD6724F924}"/>
              </a:ext>
            </a:extLst>
          </p:cNvPr>
          <p:cNvSpPr/>
          <p:nvPr/>
        </p:nvSpPr>
        <p:spPr>
          <a:xfrm>
            <a:off x="2670968" y="3274216"/>
            <a:ext cx="420687" cy="30956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125F77D-B186-AA53-BEDC-C4AEB79E34FA}"/>
              </a:ext>
            </a:extLst>
          </p:cNvPr>
          <p:cNvSpPr/>
          <p:nvPr/>
        </p:nvSpPr>
        <p:spPr>
          <a:xfrm>
            <a:off x="8457405" y="3250405"/>
            <a:ext cx="492125" cy="36909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FFEA521-99AE-EFFD-D784-E6DCB77486EF}"/>
              </a:ext>
            </a:extLst>
          </p:cNvPr>
          <p:cNvSpPr/>
          <p:nvPr/>
        </p:nvSpPr>
        <p:spPr>
          <a:xfrm>
            <a:off x="5516562" y="3238499"/>
            <a:ext cx="396875" cy="3452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68453DE-9F1D-FC54-8645-E2C51FC23339}"/>
              </a:ext>
            </a:extLst>
          </p:cNvPr>
          <p:cNvSpPr/>
          <p:nvPr/>
        </p:nvSpPr>
        <p:spPr>
          <a:xfrm>
            <a:off x="9786937" y="4202906"/>
            <a:ext cx="305593" cy="56356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14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A3043C-7CF8-15B3-C68D-7CAA06253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0523" y="113"/>
            <a:ext cx="3514725" cy="1666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AED81-9F4A-D187-F58C-F3F4584C4BC6}"/>
              </a:ext>
            </a:extLst>
          </p:cNvPr>
          <p:cNvSpPr txBox="1"/>
          <p:nvPr/>
        </p:nvSpPr>
        <p:spPr>
          <a:xfrm>
            <a:off x="3433823" y="458165"/>
            <a:ext cx="6096000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500" b="1">
                <a:solidFill>
                  <a:srgbClr val="124B70"/>
                </a:solidFill>
                <a:latin typeface="Aptos"/>
                <a:ea typeface="ＭＳ Ｐゴシック"/>
                <a:cs typeface="ＭＳ Ｐゴシック"/>
              </a:rPr>
              <a:t>FEASIBILITY</a:t>
            </a:r>
            <a:r>
              <a:rPr lang="en-IN" sz="2500" b="1" kern="1200">
                <a:solidFill>
                  <a:srgbClr val="124B70"/>
                </a:solidFill>
                <a:latin typeface="Aptos"/>
                <a:ea typeface="ＭＳ Ｐゴシック"/>
                <a:cs typeface="ＭＳ Ｐゴシック"/>
              </a:rPr>
              <a:t> AND </a:t>
            </a:r>
            <a:r>
              <a:rPr lang="en-IN" sz="2500" b="1">
                <a:solidFill>
                  <a:srgbClr val="124B70"/>
                </a:solidFill>
                <a:latin typeface="Aptos"/>
                <a:ea typeface="ＭＳ Ｐゴシック"/>
                <a:cs typeface="ＭＳ Ｐゴシック"/>
              </a:rPr>
              <a:t>VIABILITY</a:t>
            </a:r>
            <a:endParaRPr lang="en-US">
              <a:latin typeface="Goudy Old Style"/>
              <a:ea typeface="ＭＳ Ｐゴシック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9C9C7C-958E-52D4-6B58-A2FA6A209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82" r="882"/>
          <a:stretch>
            <a:fillRect/>
          </a:stretch>
        </p:blipFill>
        <p:spPr>
          <a:xfrm>
            <a:off x="432707" y="2204947"/>
            <a:ext cx="3009901" cy="638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2FC857-50B8-6AFD-4F6A-331C67DCE16D}"/>
              </a:ext>
            </a:extLst>
          </p:cNvPr>
          <p:cNvSpPr txBox="1"/>
          <p:nvPr/>
        </p:nvSpPr>
        <p:spPr>
          <a:xfrm>
            <a:off x="434051" y="3130759"/>
            <a:ext cx="3009419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300">
                <a:solidFill>
                  <a:srgbClr val="25313B"/>
                </a:solidFill>
                <a:latin typeface="Aptos"/>
                <a:ea typeface="ＭＳ Ｐゴシック"/>
              </a:rPr>
              <a:t>• Built from existing APIs, NWP data, LLMs, GIS and open software frameworks.</a:t>
            </a:r>
            <a:endParaRPr lang="en-US"/>
          </a:p>
          <a:p>
            <a:r>
              <a:rPr lang="en-IN" sz="1300">
                <a:solidFill>
                  <a:srgbClr val="25313B"/>
                </a:solidFill>
                <a:latin typeface="Aptos"/>
                <a:ea typeface="ＭＳ Ｐゴシック"/>
              </a:rPr>
              <a:t>• Modular backend allows individual data sources to be added or replaced.</a:t>
            </a:r>
            <a:endParaRPr lang="en-IN"/>
          </a:p>
          <a:p>
            <a:r>
              <a:rPr lang="en-IN" sz="1300">
                <a:solidFill>
                  <a:srgbClr val="25313B"/>
                </a:solidFill>
                <a:latin typeface="Aptos"/>
                <a:ea typeface="ＭＳ Ｐゴシック"/>
              </a:rPr>
              <a:t>• Pilot can start with selected locations and priority use cases.</a:t>
            </a:r>
            <a:endParaRPr lang="en-IN"/>
          </a:p>
          <a:p>
            <a:r>
              <a:rPr lang="en-IN" sz="1300">
                <a:solidFill>
                  <a:srgbClr val="25313B"/>
                </a:solidFill>
                <a:latin typeface="Aptos"/>
                <a:ea typeface="ＭＳ Ｐゴシック"/>
              </a:rPr>
              <a:t>• Cloud/container deployment supports scaling as usage grows.</a:t>
            </a:r>
            <a:endParaRPr lang="en-IN"/>
          </a:p>
          <a:p>
            <a:endParaRPr lang="en-IN" sz="1300">
              <a:solidFill>
                <a:srgbClr val="25313B"/>
              </a:solidFill>
              <a:latin typeface="Aptos"/>
              <a:ea typeface="ＭＳ Ｐゴシック"/>
            </a:endParaRPr>
          </a:p>
          <a:p>
            <a:pPr algn="ctr" rtl="0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A9623-765B-8358-8287-52FE9783D8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5201" y="2204946"/>
            <a:ext cx="2867025" cy="638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B3A075-8CDB-786A-B3D0-9CAD2DF31DBD}"/>
              </a:ext>
            </a:extLst>
          </p:cNvPr>
          <p:cNvSpPr txBox="1"/>
          <p:nvPr/>
        </p:nvSpPr>
        <p:spPr>
          <a:xfrm>
            <a:off x="4241349" y="3134360"/>
            <a:ext cx="3205931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Forecast uncertainty / disagreement between models.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External API or network downtime.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LLM hallucination or incorrect interpretation.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Language and voice recognition errors.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Alert fatigue during frequent events.</a:t>
            </a:r>
          </a:p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AFE89E-3F6D-AED4-E22E-9BAD1C5F0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96" y="2207335"/>
            <a:ext cx="3362325" cy="6381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CFF06D-7067-E650-AF35-2BD6A4E1AB7F}"/>
              </a:ext>
            </a:extLst>
          </p:cNvPr>
          <p:cNvSpPr txBox="1"/>
          <p:nvPr/>
        </p:nvSpPr>
        <p:spPr>
          <a:xfrm>
            <a:off x="7853680" y="3042920"/>
            <a:ext cx="3840480" cy="17697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Show forecast time, source and uncertainty where relevant.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Use caching, fallbacks and retry mechanisms.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Ground AI answers in retrieved meteorological data.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Confidence checks + multilingual testing.</a:t>
            </a:r>
          </a:p>
          <a:p>
            <a:pPr algn="l" rtl="0"/>
            <a:r>
              <a:rPr lang="en-IN" sz="1300" kern="1200">
                <a:solidFill>
                  <a:srgbClr val="25313B"/>
                </a:solidFill>
                <a:latin typeface="Aptos"/>
                <a:ea typeface="ＭＳ Ｐゴシック"/>
                <a:cs typeface="+mn-cs"/>
              </a:rPr>
              <a:t>• Prioritize severe, location-relevant warnings.</a:t>
            </a:r>
          </a:p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34DBB9-078E-AEF2-83E0-8BE37FE3F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558212"/>
            <a:ext cx="12192000" cy="7606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334FFB-1B53-BA4A-9D67-B8F0DC87A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360" y="0"/>
            <a:ext cx="2001520" cy="166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2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FA47-41DA-7A4B-9D70-C3952B7BCD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840" y="177800"/>
            <a:ext cx="10515600" cy="1117600"/>
          </a:xfrm>
        </p:spPr>
        <p:txBody>
          <a:bodyPr>
            <a:normAutofit fontScale="90000"/>
          </a:bodyPr>
          <a:lstStyle/>
          <a:p>
            <a:r>
              <a:rPr lang="en-US"/>
              <a:t>    </a:t>
            </a:r>
            <a:br>
              <a:rPr lang="en-US"/>
            </a:br>
            <a:br>
              <a:rPr lang="en-US"/>
            </a:br>
            <a:r>
              <a:rPr lang="en-US"/>
              <a:t>                IMPACT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FBFC6-AA24-D6DD-CDE0-2CED6A2E2E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062163"/>
            <a:ext cx="10515600" cy="47879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285750" indent="-285750">
              <a:buChar char="•"/>
            </a:pPr>
            <a:endParaRPr lang="en-US"/>
          </a:p>
          <a:p>
            <a:pPr marL="285750" indent="-285750">
              <a:buChar char="•"/>
            </a:pPr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866FDD9-F21A-9417-DFFA-DFB44B09D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23" y="113"/>
            <a:ext cx="3514725" cy="1666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839D7B-D0F9-7E1E-27D0-AE0D5B44F587}"/>
              </a:ext>
            </a:extLst>
          </p:cNvPr>
          <p:cNvSpPr/>
          <p:nvPr/>
        </p:nvSpPr>
        <p:spPr>
          <a:xfrm>
            <a:off x="1025124" y="2164664"/>
            <a:ext cx="1335387" cy="392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00001F-61A5-7158-7738-4182D40EC1BB}"/>
              </a:ext>
            </a:extLst>
          </p:cNvPr>
          <p:cNvSpPr txBox="1"/>
          <p:nvPr/>
        </p:nvSpPr>
        <p:spPr>
          <a:xfrm>
            <a:off x="1048694" y="2180376"/>
            <a:ext cx="12871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IMPACTS: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B2BFF1-FB33-DC11-E2D4-4B30D11B7329}"/>
              </a:ext>
            </a:extLst>
          </p:cNvPr>
          <p:cNvSpPr/>
          <p:nvPr/>
        </p:nvSpPr>
        <p:spPr>
          <a:xfrm>
            <a:off x="647423" y="2761307"/>
            <a:ext cx="2233185" cy="53566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Improved weather awareness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61E7B8-A260-2754-7634-D1BF386A1921}"/>
              </a:ext>
            </a:extLst>
          </p:cNvPr>
          <p:cNvSpPr/>
          <p:nvPr/>
        </p:nvSpPr>
        <p:spPr>
          <a:xfrm>
            <a:off x="9244984" y="2065664"/>
            <a:ext cx="1514802" cy="391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>
              <a:solidFill>
                <a:srgbClr val="000000"/>
              </a:solidFill>
            </a:endParaRPr>
          </a:p>
          <a:p>
            <a:r>
              <a:rPr lang="en-US" b="1">
                <a:solidFill>
                  <a:srgbClr val="000000"/>
                </a:solidFill>
              </a:rPr>
              <a:t>BENEFITS</a:t>
            </a:r>
            <a:r>
              <a:rPr lang="en-US">
                <a:solidFill>
                  <a:srgbClr val="000000"/>
                </a:solidFill>
              </a:rPr>
              <a:t>: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479F6-67CF-4211-2C87-D56AA0A321EA}"/>
              </a:ext>
            </a:extLst>
          </p:cNvPr>
          <p:cNvSpPr txBox="1"/>
          <p:nvPr/>
        </p:nvSpPr>
        <p:spPr>
          <a:xfrm>
            <a:off x="347049" y="3462950"/>
            <a:ext cx="283675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Makes weather information easier to understand than traditional weather apps.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20E332-09A0-152A-9014-5ECBF16261E5}"/>
              </a:ext>
            </a:extLst>
          </p:cNvPr>
          <p:cNvSpPr/>
          <p:nvPr/>
        </p:nvSpPr>
        <p:spPr>
          <a:xfrm>
            <a:off x="9077996" y="2761220"/>
            <a:ext cx="1819743" cy="55486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ea typeface="+mn-lt"/>
                <a:cs typeface="+mn-lt"/>
              </a:rPr>
              <a:t> Early Weather Alerts </a:t>
            </a:r>
            <a:endParaRPr lang="en-US" b="1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83B1FB-6A74-5D1A-D795-A42F7CAA9A0E}"/>
              </a:ext>
            </a:extLst>
          </p:cNvPr>
          <p:cNvSpPr/>
          <p:nvPr/>
        </p:nvSpPr>
        <p:spPr>
          <a:xfrm>
            <a:off x="249700" y="4582454"/>
            <a:ext cx="2893084" cy="4814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Early Alerts &amp; Disaster Preparedness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B31AFB-C552-B0A3-9BEE-2508C2E72577}"/>
              </a:ext>
            </a:extLst>
          </p:cNvPr>
          <p:cNvSpPr txBox="1"/>
          <p:nvPr/>
        </p:nvSpPr>
        <p:spPr>
          <a:xfrm>
            <a:off x="8293014" y="3424806"/>
            <a:ext cx="33433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Warns users about extreme weather such as heavy rain, storms, floods, and heatwaves.</a:t>
            </a:r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9F7624-DF3C-2428-4CB9-3705C124C05C}"/>
              </a:ext>
            </a:extLst>
          </p:cNvPr>
          <p:cNvSpPr/>
          <p:nvPr/>
        </p:nvSpPr>
        <p:spPr>
          <a:xfrm>
            <a:off x="9078916" y="4386399"/>
            <a:ext cx="2174823" cy="44365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Conversational Interaction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0AB4DF-1F37-EB3F-48AC-A357ADDE9EE4}"/>
              </a:ext>
            </a:extLst>
          </p:cNvPr>
          <p:cNvSpPr txBox="1"/>
          <p:nvPr/>
        </p:nvSpPr>
        <p:spPr>
          <a:xfrm>
            <a:off x="8439615" y="5161148"/>
            <a:ext cx="30187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Users can simply ask questions in natural language instead of reading complicated weather data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6263FB-E91D-139C-A006-616D9A91BE7B}"/>
              </a:ext>
            </a:extLst>
          </p:cNvPr>
          <p:cNvSpPr txBox="1"/>
          <p:nvPr/>
        </p:nvSpPr>
        <p:spPr>
          <a:xfrm>
            <a:off x="528118" y="5447168"/>
            <a:ext cx="277458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Provides timely alerts for heavy rainfall, storms, heatwaves, floods, etc.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6F13160-31F8-C41D-059C-C9CF0AD71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359" y="2377617"/>
            <a:ext cx="2741628" cy="20744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44CE44-0F5F-45CC-5B01-13E901620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02" y="4607449"/>
            <a:ext cx="2748110" cy="14138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15897D-63E6-2100-D8D8-CD4DF9CD2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360" y="0"/>
            <a:ext cx="1773706" cy="147770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C83642-9773-13F1-5FA6-2DB079DA5DFD}"/>
              </a:ext>
            </a:extLst>
          </p:cNvPr>
          <p:cNvCxnSpPr/>
          <p:nvPr/>
        </p:nvCxnSpPr>
        <p:spPr>
          <a:xfrm flipV="1">
            <a:off x="43011" y="1810692"/>
            <a:ext cx="12148988" cy="2418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80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3493DB-5ADB-0AC9-E075-3BE82FDC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172880" y="1561534"/>
            <a:ext cx="297352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4BB4C2-E282-DB8A-09F5-B3DAB0F1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3919-6D6A-4982-86C7-E2CEBE1F58A5}" type="datetime1">
              <a:t>8/30/2026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04C8D-781F-8494-2746-E709AD31B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7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936876-CFF9-55BF-0FB7-B3388024082F}"/>
              </a:ext>
            </a:extLst>
          </p:cNvPr>
          <p:cNvSpPr/>
          <p:nvPr/>
        </p:nvSpPr>
        <p:spPr>
          <a:xfrm>
            <a:off x="244723" y="1923994"/>
            <a:ext cx="3168712" cy="58847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Climate Awareness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0BFB5E-02EE-A181-CB97-DD4751F8E83B}"/>
              </a:ext>
            </a:extLst>
          </p:cNvPr>
          <p:cNvSpPr/>
          <p:nvPr/>
        </p:nvSpPr>
        <p:spPr>
          <a:xfrm>
            <a:off x="8123103" y="1793130"/>
            <a:ext cx="3029605" cy="59073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Location-Based Forecasts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711F6-6D9C-13C6-DA2D-5B797D33C14E}"/>
              </a:ext>
            </a:extLst>
          </p:cNvPr>
          <p:cNvSpPr txBox="1"/>
          <p:nvPr/>
        </p:nvSpPr>
        <p:spPr>
          <a:xfrm>
            <a:off x="8140615" y="2572102"/>
            <a:ext cx="38086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Provides weather information</a:t>
            </a:r>
          </a:p>
          <a:p>
            <a:r>
              <a:rPr lang="en-US">
                <a:ea typeface="+mn-lt"/>
                <a:cs typeface="+mn-lt"/>
              </a:rPr>
              <a:t> relevant to the user's location.</a:t>
            </a: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29F6C7-9F2E-95B3-B870-DAD9A02E263D}"/>
              </a:ext>
            </a:extLst>
          </p:cNvPr>
          <p:cNvSpPr/>
          <p:nvPr/>
        </p:nvSpPr>
        <p:spPr>
          <a:xfrm>
            <a:off x="8210131" y="3424026"/>
            <a:ext cx="2936516" cy="6167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Improves Safety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D0F34-BC71-6AEF-3DAC-C5F3D7B8A7EF}"/>
              </a:ext>
            </a:extLst>
          </p:cNvPr>
          <p:cNvSpPr txBox="1"/>
          <p:nvPr/>
        </p:nvSpPr>
        <p:spPr>
          <a:xfrm>
            <a:off x="362138" y="1463643"/>
            <a:ext cx="2851841" cy="920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5E396-1D20-3C7D-8706-0E754C71D275}"/>
              </a:ext>
            </a:extLst>
          </p:cNvPr>
          <p:cNvSpPr txBox="1"/>
          <p:nvPr/>
        </p:nvSpPr>
        <p:spPr>
          <a:xfrm>
            <a:off x="201826" y="2572484"/>
            <a:ext cx="37270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Goes beyond short-term forecasts by explaining climate patterns, extreme weather trends, and environmental changes.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BF3229-28D9-3F9E-4BFE-6BFF3AEF4948}"/>
              </a:ext>
            </a:extLst>
          </p:cNvPr>
          <p:cNvSpPr txBox="1"/>
          <p:nvPr/>
        </p:nvSpPr>
        <p:spPr>
          <a:xfrm>
            <a:off x="8210155" y="4181662"/>
            <a:ext cx="34083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Gives users advance information to prepare for potentially dangerous weather conditions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F80BF9-EB91-E22D-E16B-0F518136ED54}"/>
              </a:ext>
            </a:extLst>
          </p:cNvPr>
          <p:cNvSpPr/>
          <p:nvPr/>
        </p:nvSpPr>
        <p:spPr>
          <a:xfrm>
            <a:off x="206570" y="3857391"/>
            <a:ext cx="3259247" cy="64883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Personalized Information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90B9F4A-6FAE-AEF3-578F-239B81823E8E}"/>
              </a:ext>
            </a:extLst>
          </p:cNvPr>
          <p:cNvSpPr/>
          <p:nvPr/>
        </p:nvSpPr>
        <p:spPr>
          <a:xfrm>
            <a:off x="4194786" y="4788892"/>
            <a:ext cx="2986325" cy="5626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Quick Access to Information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90DF89-F740-447C-F50F-5848E8F28853}"/>
              </a:ext>
            </a:extLst>
          </p:cNvPr>
          <p:cNvSpPr txBox="1"/>
          <p:nvPr/>
        </p:nvSpPr>
        <p:spPr>
          <a:xfrm>
            <a:off x="4196035" y="5587349"/>
            <a:ext cx="3116165" cy="9521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Users can get answers instantly instead of searching through multiple sources</a:t>
            </a:r>
            <a:endParaRPr lang="en-US"/>
          </a:p>
        </p:txBody>
      </p:sp>
      <p:pic>
        <p:nvPicPr>
          <p:cNvPr id="30" name="Content Placeholder 3" descr="A green light bulb with binary code&#10;&#10;AI-generated content may be incorrect.">
            <a:extLst>
              <a:ext uri="{FF2B5EF4-FFF2-40B4-BE49-F238E27FC236}">
                <a16:creationId xmlns:a16="http://schemas.microsoft.com/office/drawing/2014/main" id="{DC47B007-45FA-3015-064C-B9A43986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23" y="113"/>
            <a:ext cx="3514725" cy="16668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EBC525D-76A5-E5A8-68CA-1FFCD3475D52}"/>
              </a:ext>
            </a:extLst>
          </p:cNvPr>
          <p:cNvSpPr txBox="1"/>
          <p:nvPr/>
        </p:nvSpPr>
        <p:spPr>
          <a:xfrm>
            <a:off x="226336" y="4768158"/>
            <a:ext cx="328942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Intead of giving everyone the same information , </a:t>
            </a:r>
            <a:r>
              <a:rPr lang="en-US" err="1"/>
              <a:t>WeatherGPT</a:t>
            </a:r>
          </a:p>
          <a:p>
            <a:r>
              <a:rPr lang="en-US"/>
              <a:t>Can answer questions based on the user's location , </a:t>
            </a:r>
            <a:r>
              <a:rPr lang="en-US" err="1"/>
              <a:t>situatio</a:t>
            </a:r>
            <a:r>
              <a:rPr lang="en-US"/>
              <a:t>n and</a:t>
            </a:r>
          </a:p>
          <a:p>
            <a:r>
              <a:rPr lang="en-US"/>
              <a:t>Specific needs.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68A977-DD48-F216-3D98-82F8A6C5EA65}"/>
              </a:ext>
            </a:extLst>
          </p:cNvPr>
          <p:cNvSpPr txBox="1"/>
          <p:nvPr/>
        </p:nvSpPr>
        <p:spPr>
          <a:xfrm>
            <a:off x="4055348" y="1062976"/>
            <a:ext cx="312213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Delivers hyper local, regional</a:t>
            </a:r>
          </a:p>
          <a:p>
            <a:r>
              <a:rPr lang="en-US"/>
              <a:t> language advisories to over 100M+ farmers to prevent crop loss and boost yield 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A6FDB95-83A6-2BFA-58FF-F2CB4128903E}"/>
              </a:ext>
            </a:extLst>
          </p:cNvPr>
          <p:cNvSpPr/>
          <p:nvPr/>
        </p:nvSpPr>
        <p:spPr>
          <a:xfrm>
            <a:off x="4048910" y="263556"/>
            <a:ext cx="3129179" cy="57278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Agricultural and </a:t>
            </a:r>
            <a:r>
              <a:rPr lang="en-US" b="1" err="1">
                <a:solidFill>
                  <a:schemeClr val="tx1"/>
                </a:solidFill>
              </a:rPr>
              <a:t>Economi</a:t>
            </a:r>
            <a:r>
              <a:rPr lang="en-US" b="1">
                <a:solidFill>
                  <a:schemeClr val="tx1"/>
                </a:solidFill>
              </a:rPr>
              <a:t>c Resilience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5B997A-99B8-8623-4C15-607F088962F5}"/>
              </a:ext>
            </a:extLst>
          </p:cNvPr>
          <p:cNvSpPr txBox="1"/>
          <p:nvPr/>
        </p:nvSpPr>
        <p:spPr>
          <a:xfrm>
            <a:off x="5613148" y="49944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425AD2-1ECC-046F-5933-E213274F7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985" y="2444750"/>
            <a:ext cx="2973070" cy="2070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48BAA8F-56C4-482D-75A0-EA61C528C5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64552" y="4763"/>
            <a:ext cx="2009775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1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924658-1D1F-7E4E-997E-06E4EA48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B869E-0C92-412F-51EB-8E19FDB4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3021F-E879-4AE9-A655-7A294259615D}" type="datetime1">
              <a:t>8/30/2026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A45BD-4DCB-AB9E-5910-DB1E84AF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EEC38-A6D5-94C4-9998-37FFEEEF53F9}"/>
              </a:ext>
            </a:extLst>
          </p:cNvPr>
          <p:cNvSpPr txBox="1"/>
          <p:nvPr/>
        </p:nvSpPr>
        <p:spPr>
          <a:xfrm>
            <a:off x="1661813" y="246053"/>
            <a:ext cx="74389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        </a:t>
            </a:r>
            <a:r>
              <a:rPr lang="en-US" sz="3200" b="1"/>
              <a:t>RESEARCH AND  REFERENCES</a:t>
            </a:r>
          </a:p>
        </p:txBody>
      </p:sp>
      <p:pic>
        <p:nvPicPr>
          <p:cNvPr id="6" name="Content Placeholder 3" descr="A green light bulb with binary code&#10;&#10;AI-generated content may be incorrect.">
            <a:extLst>
              <a:ext uri="{FF2B5EF4-FFF2-40B4-BE49-F238E27FC236}">
                <a16:creationId xmlns:a16="http://schemas.microsoft.com/office/drawing/2014/main" id="{7976328B-3FC7-FBD4-C070-10E9CA6E3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23" y="113"/>
            <a:ext cx="3514725" cy="1666875"/>
          </a:xfrm>
          <a:prstGeom prst="rect">
            <a:avLst/>
          </a:prstGeom>
        </p:spPr>
      </p:pic>
      <p:pic>
        <p:nvPicPr>
          <p:cNvPr id="8" name="Picture 7" descr="A logo for weather gpt&#10;&#10;AI-generated content may be incorrect.">
            <a:extLst>
              <a:ext uri="{FF2B5EF4-FFF2-40B4-BE49-F238E27FC236}">
                <a16:creationId xmlns:a16="http://schemas.microsoft.com/office/drawing/2014/main" id="{59354C46-496A-A87D-77EC-9DDB8063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4647" y="16192"/>
            <a:ext cx="1952625" cy="170497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5225AF-E113-CE27-455E-30C07F22E4CA}"/>
              </a:ext>
            </a:extLst>
          </p:cNvPr>
          <p:cNvSpPr/>
          <p:nvPr/>
        </p:nvSpPr>
        <p:spPr>
          <a:xfrm>
            <a:off x="2556688" y="1795615"/>
            <a:ext cx="3539070" cy="29650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019AF-967A-B788-5A36-81963560C40A}"/>
              </a:ext>
            </a:extLst>
          </p:cNvPr>
          <p:cNvSpPr/>
          <p:nvPr/>
        </p:nvSpPr>
        <p:spPr>
          <a:xfrm>
            <a:off x="6185232" y="1787965"/>
            <a:ext cx="3764266" cy="2953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SAM – Serviceable Available Market (Indian Agricultural &amp; Emergency Response Segment)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Scope: Smallholder farmers, rural agriculture communities, and regional disaster management teams (~150 Million users).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Calculation: Under targeted adoption assumption = ~$350 Million</a:t>
            </a:r>
            <a:endParaRPr lang="en-US">
              <a:solidFill>
                <a:schemeClr val="tx1"/>
              </a:solidFill>
            </a:endParaRPr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82783B-5151-9C1C-A6C5-16482206721C}"/>
              </a:ext>
            </a:extLst>
          </p:cNvPr>
          <p:cNvSpPr/>
          <p:nvPr/>
        </p:nvSpPr>
        <p:spPr>
          <a:xfrm>
            <a:off x="2911677" y="4990903"/>
            <a:ext cx="6513764" cy="12553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SOM – Serviceable Obtainable Market (1-Year Initial Target)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Scope: Active agricultural users across 2–3 major agrarian states using regional voice/WhatsApp interfaces (~5 Million active users).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Calculation: Target 5% conversion rate in Year 1 = ~$15 Million</a:t>
            </a:r>
            <a:endParaRPr lang="en-US"/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85FEAE-52A6-6A1A-BC57-9D15B20B3C56}"/>
              </a:ext>
            </a:extLst>
          </p:cNvPr>
          <p:cNvSpPr txBox="1"/>
          <p:nvPr/>
        </p:nvSpPr>
        <p:spPr>
          <a:xfrm>
            <a:off x="156122" y="2056746"/>
            <a:ext cx="27108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REFERENCE:</a:t>
            </a:r>
          </a:p>
          <a:p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BC9B6-1E43-7A9E-8F33-66900A68426C}"/>
              </a:ext>
            </a:extLst>
          </p:cNvPr>
          <p:cNvSpPr txBox="1"/>
          <p:nvPr/>
        </p:nvSpPr>
        <p:spPr>
          <a:xfrm>
            <a:off x="2924725" y="1860422"/>
            <a:ext cx="317410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TAM – Total Addressable Market (Indian Digital Weather &amp; Climate Tech Market)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Scope: All smartphone/internet users in India needing real-time weather &amp; agricultural advisories (~900 Million users).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Calculation: Under 100% adoption assumption = ~$1.2 Billion</a:t>
            </a:r>
            <a:endParaRPr lang="en-US"/>
          </a:p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E40CA-DAC3-61F3-C891-E00F64F9D58E}"/>
              </a:ext>
            </a:extLst>
          </p:cNvPr>
          <p:cNvSpPr txBox="1"/>
          <p:nvPr/>
        </p:nvSpPr>
        <p:spPr>
          <a:xfrm>
            <a:off x="147158" y="3425916"/>
            <a:ext cx="23587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B0C6A-489E-40B5-FCC5-7E315B6FF15C}"/>
              </a:ext>
            </a:extLst>
          </p:cNvPr>
          <p:cNvSpPr txBox="1"/>
          <p:nvPr/>
        </p:nvSpPr>
        <p:spPr>
          <a:xfrm>
            <a:off x="166653" y="2341384"/>
            <a:ext cx="2356588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/>
              <a:t>Pathak et al., "</a:t>
            </a:r>
            <a:r>
              <a:rPr lang="en-US" sz="1400" err="1"/>
              <a:t>DeepLearning</a:t>
            </a:r>
            <a:r>
              <a:rPr lang="en-US" sz="1400"/>
              <a:t> and </a:t>
            </a:r>
            <a:r>
              <a:rPr lang="en-US" sz="1400" err="1"/>
              <a:t>LargeLanguage</a:t>
            </a:r>
            <a:r>
              <a:rPr lang="en-US" sz="1400"/>
              <a:t> Models </a:t>
            </a:r>
            <a:r>
              <a:rPr lang="en-US" sz="1400" err="1"/>
              <a:t>forAutomated</a:t>
            </a:r>
            <a:r>
              <a:rPr lang="en-US" sz="1400"/>
              <a:t> </a:t>
            </a:r>
            <a:r>
              <a:rPr lang="en-US" sz="1400" err="1"/>
              <a:t>WeatherForecasting</a:t>
            </a:r>
            <a:r>
              <a:rPr lang="en-US" sz="1400"/>
              <a:t> </a:t>
            </a:r>
            <a:r>
              <a:rPr lang="en-US" sz="1400" err="1"/>
              <a:t>andDisaster</a:t>
            </a:r>
            <a:r>
              <a:rPr lang="en-US" sz="1400"/>
              <a:t> </a:t>
            </a:r>
            <a:r>
              <a:rPr lang="en-US" sz="1400" err="1"/>
              <a:t>Response,"Journal</a:t>
            </a:r>
            <a:r>
              <a:rPr lang="en-US" sz="1400"/>
              <a:t> of </a:t>
            </a:r>
            <a:r>
              <a:rPr lang="en-US" sz="1400" err="1"/>
              <a:t>Atmosphericand</a:t>
            </a:r>
            <a:r>
              <a:rPr lang="en-US" sz="1400"/>
              <a:t> Solar-</a:t>
            </a:r>
            <a:r>
              <a:rPr lang="en-US" sz="1400" err="1"/>
              <a:t>TerrestrialPhysics</a:t>
            </a:r>
            <a:r>
              <a:rPr lang="en-US" sz="1400"/>
              <a:t>, vol. 214, pp.105-118, 2024.</a:t>
            </a:r>
            <a:endParaRPr lang="en-US"/>
          </a:p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871FD3-77EF-EEDC-7CD0-F142039892F8}"/>
              </a:ext>
            </a:extLst>
          </p:cNvPr>
          <p:cNvSpPr txBox="1"/>
          <p:nvPr/>
        </p:nvSpPr>
        <p:spPr>
          <a:xfrm>
            <a:off x="7693034" y="644873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22B1BD-BA17-55FA-3B86-69DED95D0A39}"/>
              </a:ext>
            </a:extLst>
          </p:cNvPr>
          <p:cNvSpPr txBox="1"/>
          <p:nvPr/>
        </p:nvSpPr>
        <p:spPr>
          <a:xfrm>
            <a:off x="-62" y="4516269"/>
            <a:ext cx="233712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India Meteorological Department (IMD), "Integration Guidelines for Open Weather APIs and Numerical Weather Prediction (NWP) Data Services," Ministry of Earth Sciences (</a:t>
            </a:r>
            <a:r>
              <a:rPr lang="en-US" sz="1400" err="1">
                <a:ea typeface="+mn-lt"/>
                <a:cs typeface="+mn-lt"/>
              </a:rPr>
              <a:t>MoES</a:t>
            </a:r>
            <a:r>
              <a:rPr lang="en-US" sz="1400">
                <a:ea typeface="+mn-lt"/>
                <a:cs typeface="+mn-lt"/>
              </a:rPr>
              <a:t>) Technical Report, 2023.</a:t>
            </a:r>
            <a:endParaRPr lang="en-US" sz="1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7241-ADAA-F46C-A81E-EA27D22FE037}"/>
              </a:ext>
            </a:extLst>
          </p:cNvPr>
          <p:cNvSpPr txBox="1"/>
          <p:nvPr/>
        </p:nvSpPr>
        <p:spPr>
          <a:xfrm>
            <a:off x="10149178" y="2153184"/>
            <a:ext cx="1925963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 "Accurate medium-range global weather forecasting with 3D neural networks (Pangu-Weather)," Nature, vol. 619, pp. 533–538, 2023. doi:10.1038/s41586-023-06185-3.</a:t>
            </a:r>
            <a:endParaRPr lang="en-US" sz="1400"/>
          </a:p>
          <a:p>
            <a:pPr marL="285750" indent="-285750" algn="just"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Bhashini AI Team, "Empowering Rural Accessibility via Multilingual Voice Translation Frameworks," National Language Translation Mission (NLTM), Ministry of Electronics and IT, 2024.</a:t>
            </a:r>
            <a:endParaRPr lang="en-US" sz="1400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4980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 panose="02020502050305020303"/>
        <a:ea typeface=""/>
        <a:cs typeface=""/>
      </a:minorFont>
    </a:fontScheme>
    <a:fmtScheme name="Archway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15BC1FC9-F32C-4048-9052-439CED41F932}" vid="{4FF12325-B8E7-401C-AF33-78C72DDA2CB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74DECCFAE6A043B9787D612C08447B" ma:contentTypeVersion="1" ma:contentTypeDescription="Create a new document." ma:contentTypeScope="" ma:versionID="f905d67ce66a4a0bd8bab05a793b4667">
  <xsd:schema xmlns:xsd="http://www.w3.org/2001/XMLSchema" xmlns:xs="http://www.w3.org/2001/XMLSchema" xmlns:p="http://schemas.microsoft.com/office/2006/metadata/properties" xmlns:ns3="f9857c88-0e97-425c-ac50-319e04486f10" targetNamespace="http://schemas.microsoft.com/office/2006/metadata/properties" ma:root="true" ma:fieldsID="69934feeeb4c2332fa3689f06576243f" ns3:_="">
    <xsd:import namespace="f9857c88-0e97-425c-ac50-319e04486f1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857c88-0e97-425c-ac50-319e04486f1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AC348B-1F43-4E23-A6CE-2A6FB2597964}">
  <ds:schemaRefs>
    <ds:schemaRef ds:uri="f9857c88-0e97-425c-ac50-319e04486f1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0EB681A-829A-45F6-B02C-287D0AF39D4F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D00126B-F485-4ED9-8EE3-EB4AD5EF1A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Archway</vt:lpstr>
      <vt:lpstr>SMART INDIA HACKATHON 2026</vt:lpstr>
      <vt:lpstr>PowerPoint Presentation</vt:lpstr>
      <vt:lpstr>                TECHNICAL APPROACH</vt:lpstr>
      <vt:lpstr> </vt:lpstr>
      <vt:lpstr>PowerPoint Presentation</vt:lpstr>
      <vt:lpstr>                      IMPACT AND BENEFITS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Mukhil Harshini Senthur Selvam - [CB.EN.U4CHE26119]</dc:creator>
  <cp:revision>5</cp:revision>
  <dcterms:created xsi:type="dcterms:W3CDTF">2026-08-30T01:52:20Z</dcterms:created>
  <dcterms:modified xsi:type="dcterms:W3CDTF">2026-08-30T16:58:09Z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0x0101001374DECCFAE6A043B9787D612C08447B</vt:lpwstr>
  </property>
</Properties>
</file>